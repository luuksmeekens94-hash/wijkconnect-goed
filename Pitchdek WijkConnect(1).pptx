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L5EiF9ax47zcT+mEIRoIP5ony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263EC7-333C-4A62-A7CB-7B96D61A60EA}">
  <a:tblStyle styleId="{BB263EC7-333C-4A62-A7CB-7B96D61A60E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" name="Google Shape;1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hyperlink" Target="https://www.medischcontact.nl/actueel/laatste-nieuws/artikel/het-heeft-geen-zin-om-als-dokter-op-je-medische-eilandje-te-blijven-zitten#:~:text=Huisartsen%20en%20praktijkondersteuners%20van%20een,%E2%80%99" TargetMode="External"/><Relationship Id="rId5" Type="http://schemas.openxmlformats.org/officeDocument/2006/relationships/hyperlink" Target="https://www.medischcontact.nl/actueel/laatste-nieuws/artikel/het-heeft-geen-zin-om-als-dokter-op-je-medische-eilandje-te-blijven-zitten#:~:text=In%20Overvecht,%E2%80%99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hyperlink" Target="https://www.toezichtsociaaldomein.nl/onderwerpen/preventie/huisartsen-en-schuldhulpverlening/huisartsen#:~:text=Na%20het%20gesprek%20met%20de,kans%20groot%20dat%20zij%20afhaken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hyperlink" Target="https://www.medischcontact.nl/actueel/laatste-nieuws/artikel/het-heeft-geen-zin-om-als-dokter-op-je-medische-eilandje-te-blijven-zitten#:~:text=Pati%C3%ABnten%20van%20wie%20duidelijk%20was,wisten%20het%20buurtteam%20niet%20te" TargetMode="External"/><Relationship Id="rId5" Type="http://schemas.openxmlformats.org/officeDocument/2006/relationships/hyperlink" Target="https://www.toezichtsociaaldomein.nl/onderwerpen/preventie/huisartsen-en-schuldhulpverlening/huisartsen#:~:text=Na%20het%20gesprek%20met%20de,kans%20groot%20dat%20zij%20afhak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E40">
              <a:alpha val="60000"/>
            </a:srgbClr>
          </a:solidFill>
          <a:ln cap="flat" cmpd="sng" w="12700">
            <a:solidFill>
              <a:srgbClr val="001E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WijkConnect</a:t>
            </a:r>
            <a:b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18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Digitale brug tussen huisarts en sociaal domein</a:t>
            </a:r>
            <a:br>
              <a:rPr i="1" lang="en-US" sz="18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00A67D"/>
                </a:solidFill>
                <a:latin typeface="Calibri"/>
                <a:ea typeface="Calibri"/>
                <a:cs typeface="Calibri"/>
                <a:sym typeface="Calibri"/>
              </a:rPr>
              <a:t>Verbinden, versterken en ontlasten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E40">
              <a:alpha val="60000"/>
            </a:srgbClr>
          </a:solidFill>
          <a:ln cap="flat" cmpd="sng" w="12700">
            <a:solidFill>
              <a:srgbClr val="001E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Achtergrond &amp; urgentie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457200" y="1188720"/>
            <a:ext cx="8229600" cy="2834640"/>
          </a:xfrm>
          <a:prstGeom prst="roundRect">
            <a:avLst>
              <a:gd fmla="val 2581" name="adj"/>
            </a:avLst>
          </a:prstGeom>
          <a:solidFill>
            <a:srgbClr val="2F5597">
              <a:alpha val="20000"/>
            </a:srgbClr>
          </a:solidFill>
          <a:ln cap="flat" cmpd="sng" w="12700">
            <a:solidFill>
              <a:srgbClr val="2F5597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640080" y="1371600"/>
            <a:ext cx="7863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94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In project “Beweeg Mee” wordt het volgende ervaren:</a:t>
            </a:r>
            <a:endParaRPr sz="1300">
              <a:solidFill>
                <a:srgbClr val="DDE6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94C"/>
              </a:buClr>
              <a:buSzPts val="1300"/>
              <a:buFont typeface="Calibri"/>
              <a:buNone/>
            </a:pPr>
            <a:br>
              <a:rPr lang="en-US" sz="130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Inwoners melden zich bij de huisarts met niet‑medische vragen (stress, geldzorgen, eenzaamheid).</a:t>
            </a:r>
            <a:b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Het sociale domein is versnipperd en moeilijk vindbaar; inwoners weten niet waar ze terecht kunnen.</a:t>
            </a:r>
            <a:b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Huisartsen en POH’s raken overbelast terwijl medische zorg moet wachten.</a:t>
            </a:r>
            <a:b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Er bestaat geen veilige, uniforme route voor warme digitale verwijzing naar het sociaal domein.</a:t>
            </a:r>
            <a:b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640080" y="42976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750"/>
              <a:buFont typeface="Calibri"/>
              <a:buNone/>
            </a:pPr>
            <a:r>
              <a:rPr lang="en-US" sz="750" u="sng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r>
              <a:rPr lang="en-US" sz="7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750" u="sng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[2]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E40">
              <a:alpha val="60000"/>
            </a:srgbClr>
          </a:solidFill>
          <a:ln cap="flat" cmpd="sng" w="12700">
            <a:solidFill>
              <a:srgbClr val="001E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Probleemstelling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doel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457200" y="1005840"/>
            <a:ext cx="4114800" cy="2743200"/>
          </a:xfrm>
          <a:prstGeom prst="roundRect">
            <a:avLst>
              <a:gd fmla="val 2667" name="adj"/>
            </a:avLst>
          </a:prstGeom>
          <a:solidFill>
            <a:srgbClr val="2F5597">
              <a:alpha val="20000"/>
            </a:srgbClr>
          </a:solidFill>
          <a:ln cap="flat" cmpd="sng" w="12700">
            <a:solidFill>
              <a:srgbClr val="2F5597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48640" y="1097280"/>
            <a:ext cx="39319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Probleem</a:t>
            </a:r>
            <a:b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Het verwijzen naar het sociaal domein is inefficiënt en versnipperd.</a:t>
            </a:r>
            <a:br>
              <a:rPr lang="en-US" sz="12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Geen uniforme, veilige route voor warme verwijzing.</a:t>
            </a:r>
            <a:br>
              <a:rPr lang="en-US" sz="12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Ontbreken van overzicht in aanbod en feedback.</a:t>
            </a:r>
            <a:br>
              <a:rPr lang="en-US" sz="12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Casussen raken uit zicht wanneer terugkoppeling ontbreekt.</a:t>
            </a:r>
            <a:br>
              <a:rPr lang="en-US" sz="12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572000" y="1005840"/>
            <a:ext cx="4114800" cy="2743200"/>
          </a:xfrm>
          <a:prstGeom prst="roundRect">
            <a:avLst>
              <a:gd fmla="val 2667" name="adj"/>
            </a:avLst>
          </a:prstGeom>
          <a:solidFill>
            <a:srgbClr val="00A67D">
              <a:alpha val="20000"/>
            </a:srgbClr>
          </a:solidFill>
          <a:ln cap="flat" cmpd="sng" w="12700">
            <a:solidFill>
              <a:srgbClr val="00A67D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4663440" y="1097280"/>
            <a:ext cx="39319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Doel</a:t>
            </a:r>
            <a:b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en lichte, veilige digitale tussenlaag met:</a:t>
            </a:r>
            <a:b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Één uniforme handeling biedt voor verwijzing vanuit het HIS.</a:t>
            </a:r>
            <a:br>
              <a:rPr lang="en-US" sz="12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Het juiste aanbod automatisch matcht en veilig overdraagt.</a:t>
            </a:r>
            <a:br>
              <a:rPr lang="en-US" sz="12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Directe terugkoppeling en eenvoudige burger interface realiseert.</a:t>
            </a:r>
            <a:br>
              <a:rPr lang="en-US" sz="12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57200" y="4206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750"/>
              <a:buFont typeface="Calibri"/>
              <a:buNone/>
            </a:pPr>
            <a:r>
              <a:rPr lang="en-US" sz="750" u="sng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[3]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E40">
              <a:alpha val="60000"/>
            </a:srgbClr>
          </a:solidFill>
          <a:ln cap="flat" cmpd="sng" w="12700">
            <a:solidFill>
              <a:srgbClr val="001E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Onze oplossing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60" y="1280160"/>
            <a:ext cx="2103120" cy="2743200"/>
          </a:xfrm>
          <a:prstGeom prst="roundRect">
            <a:avLst>
              <a:gd fmla="val 3478" name="adj"/>
            </a:avLst>
          </a:prstGeom>
          <a:solidFill>
            <a:srgbClr val="2F5597">
              <a:alpha val="20000"/>
            </a:srgbClr>
          </a:solidFill>
          <a:ln cap="flat" cmpd="sng" w="12700">
            <a:solidFill>
              <a:srgbClr val="2F5597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187505" y="1394463"/>
            <a:ext cx="457200" cy="457200"/>
          </a:xfrm>
          <a:prstGeom prst="ellipse">
            <a:avLst/>
          </a:prstGeom>
          <a:solidFill>
            <a:srgbClr val="2F5597">
              <a:alpha val="40000"/>
            </a:srgbClr>
          </a:solidFill>
          <a:ln cap="flat" cmpd="sng" w="12700">
            <a:solidFill>
              <a:srgbClr val="2F559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1810" y="15087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411480" y="1874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Doorverwijzen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11480" y="2240280"/>
            <a:ext cx="201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6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Één druk op de knop in het HIS selecteert een categorie en verzendt een </a:t>
            </a: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verwijskaart</a:t>
            </a: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 met minimale gegevens.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06040" y="1280160"/>
            <a:ext cx="2103000" cy="2743200"/>
          </a:xfrm>
          <a:prstGeom prst="roundRect">
            <a:avLst>
              <a:gd fmla="val 3478" name="adj"/>
            </a:avLst>
          </a:prstGeom>
          <a:solidFill>
            <a:srgbClr val="00A67D">
              <a:alpha val="20000"/>
            </a:srgbClr>
          </a:solidFill>
          <a:ln cap="flat" cmpd="sng" w="12700">
            <a:solidFill>
              <a:srgbClr val="00A67D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429010" y="1394450"/>
            <a:ext cx="457200" cy="457200"/>
          </a:xfrm>
          <a:prstGeom prst="ellipse">
            <a:avLst/>
          </a:prstGeom>
          <a:solidFill>
            <a:srgbClr val="00A67D">
              <a:alpha val="40000"/>
            </a:srgbClr>
          </a:solidFill>
          <a:ln cap="flat" cmpd="sng" w="12700">
            <a:solidFill>
              <a:srgbClr val="00A6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3295" y="15087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2651760" y="1874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Routering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51760" y="2240280"/>
            <a:ext cx="2011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6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Slimme matching koppelt de hulpvraag aan het juiste lokale aanbod; veilig verzonden via secure mail of API.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846320" y="1280160"/>
            <a:ext cx="2103000" cy="2743200"/>
          </a:xfrm>
          <a:prstGeom prst="roundRect">
            <a:avLst>
              <a:gd fmla="val 3478" name="adj"/>
            </a:avLst>
          </a:prstGeom>
          <a:solidFill>
            <a:srgbClr val="00A6B1">
              <a:alpha val="20000"/>
            </a:srgbClr>
          </a:solidFill>
          <a:ln cap="flat" cmpd="sng" w="12700">
            <a:solidFill>
              <a:srgbClr val="00A6B1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669265" y="1371600"/>
            <a:ext cx="457200" cy="457200"/>
          </a:xfrm>
          <a:prstGeom prst="ellipse">
            <a:avLst/>
          </a:prstGeom>
          <a:solidFill>
            <a:srgbClr val="00A6B1">
              <a:alpha val="40000"/>
            </a:srgbClr>
          </a:solidFill>
          <a:ln cap="flat" cmpd="sng" w="12700">
            <a:solidFill>
              <a:srgbClr val="00A6B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83575" y="148591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4892040" y="1874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Terugkoppeling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892040" y="2240280"/>
            <a:ext cx="2011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6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Via een inlog vrije link stuurt het sociaal domein status en behandelaar terug; het HIS toont de actuele voortgang.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086600" y="1280160"/>
            <a:ext cx="2103000" cy="2743200"/>
          </a:xfrm>
          <a:prstGeom prst="roundRect">
            <a:avLst>
              <a:gd fmla="val 3478" name="adj"/>
            </a:avLst>
          </a:prstGeom>
          <a:solidFill>
            <a:srgbClr val="F2C94C">
              <a:alpha val="20000"/>
            </a:srgbClr>
          </a:solidFill>
          <a:ln cap="flat" cmpd="sng" w="12700">
            <a:solidFill>
              <a:srgbClr val="F2C94C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7909570" y="1371600"/>
            <a:ext cx="457200" cy="457200"/>
          </a:xfrm>
          <a:prstGeom prst="ellipse">
            <a:avLst/>
          </a:prstGeom>
          <a:solidFill>
            <a:srgbClr val="F2C94C">
              <a:alpha val="40000"/>
            </a:srgbClr>
          </a:solidFill>
          <a:ln cap="flat" cmpd="sng" w="12700">
            <a:solidFill>
              <a:srgbClr val="F2C94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23880" y="148591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7132320" y="1874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Burger Interface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132320" y="2240280"/>
            <a:ext cx="2011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6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Laagdrempelige webinterface voor zelf zoeken, initiatieven toevoegen en terugkoppelen; geen inlog nodig.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E40">
              <a:alpha val="60000"/>
            </a:srgbClr>
          </a:solidFill>
          <a:ln cap="flat" cmpd="sng" w="12700">
            <a:solidFill>
              <a:srgbClr val="001E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Technische componenten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914400" y="1188720"/>
            <a:ext cx="7315200" cy="731520"/>
          </a:xfrm>
          <a:prstGeom prst="roundRect">
            <a:avLst>
              <a:gd fmla="val 10000" name="adj"/>
            </a:avLst>
          </a:prstGeom>
          <a:solidFill>
            <a:srgbClr val="2F5597">
              <a:alpha val="20000"/>
            </a:srgbClr>
          </a:solidFill>
          <a:ln cap="flat" cmpd="sng" w="12700">
            <a:solidFill>
              <a:srgbClr val="2F5597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097280" y="125272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HIS‑laag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097280" y="1481328"/>
            <a:ext cx="6126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6F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Huisartsen en POH werken in hun vertrouwde systemen (</a:t>
            </a:r>
            <a:r>
              <a:rPr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Health Connected</a:t>
            </a:r>
            <a:r>
              <a:rPr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, Sanday). Verwijzen via één handeling in het HIS.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343400" y="1988828"/>
            <a:ext cx="457200" cy="320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F5597"/>
          </a:solidFill>
          <a:ln cap="flat" cmpd="sng" w="12700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14400" y="2377440"/>
            <a:ext cx="7315200" cy="731520"/>
          </a:xfrm>
          <a:prstGeom prst="roundRect">
            <a:avLst>
              <a:gd fmla="val 10000" name="adj"/>
            </a:avLst>
          </a:prstGeom>
          <a:solidFill>
            <a:srgbClr val="00A67D">
              <a:alpha val="20000"/>
            </a:srgbClr>
          </a:solidFill>
          <a:ln cap="flat" cmpd="sng" w="12700">
            <a:solidFill>
              <a:srgbClr val="00A67D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097280" y="244144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Routerings‑ &amp; servicelaag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097280" y="2670048"/>
            <a:ext cx="6126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6F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Python/FastAPI backend met matching engine en secure mail router. Matcht hulpvragen aan aanbod, verstuurt pakket en verwerkt feedback. Geen centrale opslag van data.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343400" y="3171342"/>
            <a:ext cx="457200" cy="320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F5597"/>
          </a:solidFill>
          <a:ln cap="flat" cmpd="sng" w="12700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914400" y="3566160"/>
            <a:ext cx="7315200" cy="731520"/>
          </a:xfrm>
          <a:prstGeom prst="roundRect">
            <a:avLst>
              <a:gd fmla="val 10000" name="adj"/>
            </a:avLst>
          </a:prstGeom>
          <a:solidFill>
            <a:srgbClr val="00A6B1">
              <a:alpha val="20000"/>
            </a:srgbClr>
          </a:solidFill>
          <a:ln cap="flat" cmpd="sng" w="12700">
            <a:solidFill>
              <a:srgbClr val="00A6B1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097280" y="36301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Burger interface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097280" y="3858768"/>
            <a:ext cx="6126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6F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Toegankelijke webinterface voor inwoners met thema’s en initiatieven. Ondersteunt zoeken, aanmelden en feedback zonder account.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" name="Google Shape;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E40">
              <a:alpha val="60000"/>
            </a:srgbClr>
          </a:solidFill>
          <a:ln cap="flat" cmpd="sng" w="12700">
            <a:solidFill>
              <a:srgbClr val="001E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Innovatie &amp; voordelen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2F5597">
              <a:alpha val="40000"/>
            </a:srgbClr>
          </a:solidFill>
          <a:ln cap="flat" cmpd="sng" w="12700">
            <a:solidFill>
              <a:srgbClr val="2F559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" y="1280177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1097280" y="1188720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Ontlast de huisarts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097280" y="139903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6F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Vermindert niet‑medische consulten en geeft meer tijd voor medische zorg.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00A67D">
              <a:alpha val="40000"/>
            </a:srgbClr>
          </a:solidFill>
          <a:ln cap="flat" cmpd="sng" w="12700">
            <a:solidFill>
              <a:srgbClr val="00A6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780" y="19659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1097280" y="1920240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Privacy‑by‑design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097280" y="213055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6F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Gegevens worden alleen doorgestuurd en niet centraal opgeslagen.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00A6B1">
              <a:alpha val="40000"/>
            </a:srgbClr>
          </a:solidFill>
          <a:ln cap="flat" cmpd="sng" w="12700">
            <a:solidFill>
              <a:srgbClr val="00A6B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780" y="2720343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6"/>
          <p:cNvSpPr/>
          <p:nvPr/>
        </p:nvSpPr>
        <p:spPr>
          <a:xfrm>
            <a:off x="1097280" y="2651760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Geen extra systemen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097280" y="286207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6F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Volledige integratie in bestaande HIS‑ en e‑mail omgevingen; geen nieuwe accounts nodig.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F2C94C">
              <a:alpha val="40000"/>
            </a:srgbClr>
          </a:solidFill>
          <a:ln cap="flat" cmpd="sng" w="12700">
            <a:solidFill>
              <a:srgbClr val="F2C94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5780" y="345185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/>
          <p:nvPr/>
        </p:nvSpPr>
        <p:spPr>
          <a:xfrm>
            <a:off x="1097280" y="3383280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Burger Interface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097280" y="359359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6F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Laagdrempelige toegang en participatie voor inwoners; stimuleert zelfhulp.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2F5597">
              <a:alpha val="40000"/>
            </a:srgbClr>
          </a:solidFill>
          <a:ln cap="flat" cmpd="sng" w="12700">
            <a:solidFill>
              <a:srgbClr val="2F559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5780" y="418337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1097280" y="4114800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Modulair &amp; schaalbaar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097280" y="4325112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6F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Pass‑through architectuur maakt opschaling naar andere regio’s eenvoudig.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E40">
              <a:alpha val="60000"/>
            </a:srgbClr>
          </a:solidFill>
          <a:ln cap="flat" cmpd="sng" w="12700">
            <a:solidFill>
              <a:srgbClr val="001E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Pilot opzet &amp; fasering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57200" y="1280160"/>
            <a:ext cx="2286000" cy="2743200"/>
          </a:xfrm>
          <a:prstGeom prst="roundRect">
            <a:avLst>
              <a:gd fmla="val 3200" name="adj"/>
            </a:avLst>
          </a:prstGeom>
          <a:solidFill>
            <a:srgbClr val="2F5597">
              <a:alpha val="20000"/>
            </a:srgbClr>
          </a:solidFill>
          <a:ln cap="flat" cmpd="sng" w="12700">
            <a:solidFill>
              <a:srgbClr val="2F5597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2F5597">
              <a:alpha val="40000"/>
            </a:srgbClr>
          </a:solidFill>
          <a:ln cap="flat" cmpd="sng" w="12700">
            <a:solidFill>
              <a:srgbClr val="2F559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509" y="147585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1143000" y="1371600"/>
            <a:ext cx="1645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Ontwerp &amp; MVP</a:t>
            </a:r>
            <a:b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6–8 weken</a:t>
            </a:r>
            <a:br>
              <a:rPr i="1"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Functioneel ontwerp, technische architectuur, MVP bouwen, privacy &amp; security review.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743200" y="2423160"/>
            <a:ext cx="457200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597"/>
          </a:solidFill>
          <a:ln cap="flat" cmpd="sng" w="12700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200400" y="1280160"/>
            <a:ext cx="2286000" cy="2743200"/>
          </a:xfrm>
          <a:prstGeom prst="roundRect">
            <a:avLst>
              <a:gd fmla="val 3200" name="adj"/>
            </a:avLst>
          </a:prstGeom>
          <a:solidFill>
            <a:srgbClr val="00A67D">
              <a:alpha val="20000"/>
            </a:srgbClr>
          </a:solidFill>
          <a:ln cap="flat" cmpd="sng" w="12700">
            <a:solidFill>
              <a:srgbClr val="00A67D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337560" y="1371600"/>
            <a:ext cx="457200" cy="457200"/>
          </a:xfrm>
          <a:prstGeom prst="ellipse">
            <a:avLst/>
          </a:prstGeom>
          <a:solidFill>
            <a:srgbClr val="00A67D">
              <a:alpha val="40000"/>
            </a:srgbClr>
          </a:solidFill>
          <a:ln cap="flat" cmpd="sng" w="12700">
            <a:solidFill>
              <a:srgbClr val="00A6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7709" y="147585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/>
          <p:nvPr/>
        </p:nvSpPr>
        <p:spPr>
          <a:xfrm>
            <a:off x="3886200" y="1371600"/>
            <a:ext cx="1645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pilot</a:t>
            </a:r>
            <a:b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3 maanden</a:t>
            </a:r>
            <a:br>
              <a:rPr i="1"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Inzet in De Schakel &amp; Beweeg Mee; onboarden van gebruikers, wekelijkse feedbackloop en bugfixes.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486400" y="2423160"/>
            <a:ext cx="457200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5597"/>
          </a:solidFill>
          <a:ln cap="flat" cmpd="sng" w="12700">
            <a:solidFill>
              <a:srgbClr val="2F55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943600" y="1280160"/>
            <a:ext cx="2286000" cy="2743200"/>
          </a:xfrm>
          <a:prstGeom prst="roundRect">
            <a:avLst>
              <a:gd fmla="val 3200" name="adj"/>
            </a:avLst>
          </a:prstGeom>
          <a:solidFill>
            <a:srgbClr val="F2C94C">
              <a:alpha val="20000"/>
            </a:srgbClr>
          </a:solidFill>
          <a:ln cap="flat" cmpd="sng" w="12700">
            <a:solidFill>
              <a:srgbClr val="F2C94C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080760" y="1371600"/>
            <a:ext cx="457200" cy="457200"/>
          </a:xfrm>
          <a:prstGeom prst="ellipse">
            <a:avLst/>
          </a:prstGeom>
          <a:solidFill>
            <a:srgbClr val="F2C94C">
              <a:alpha val="40000"/>
            </a:srgbClr>
          </a:solidFill>
          <a:ln cap="flat" cmpd="sng" w="12700">
            <a:solidFill>
              <a:srgbClr val="F2C94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0909" y="148337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6629400" y="1371600"/>
            <a:ext cx="1645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Evaluatie &amp; opschaling</a:t>
            </a:r>
            <a:b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na pilot</a:t>
            </a:r>
            <a:br>
              <a:rPr i="1"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Analyse gebruik &amp; impact, rapportage, plan voor opschaling binnen NEO huisartsengroep.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1" name="Google Shape;1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E40">
              <a:alpha val="60000"/>
            </a:srgbClr>
          </a:solidFill>
          <a:ln cap="flat" cmpd="sng" w="12700">
            <a:solidFill>
              <a:srgbClr val="001E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Verwachte impact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57200" y="1280160"/>
            <a:ext cx="3657600" cy="1645920"/>
          </a:xfrm>
          <a:prstGeom prst="roundRect">
            <a:avLst>
              <a:gd fmla="val 4444" name="adj"/>
            </a:avLst>
          </a:prstGeom>
          <a:solidFill>
            <a:srgbClr val="2F5597">
              <a:alpha val="20000"/>
            </a:srgbClr>
          </a:solidFill>
          <a:ln cap="flat" cmpd="sng" w="12700">
            <a:solidFill>
              <a:srgbClr val="2F5597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2F5597">
              <a:alpha val="40000"/>
            </a:srgbClr>
          </a:solidFill>
          <a:ln cap="flat" cmpd="sng" w="12700">
            <a:solidFill>
              <a:srgbClr val="2F559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880" y="1459791"/>
            <a:ext cx="274320" cy="27432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1005840" y="141732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Huisartsen &amp; POH’s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005840" y="1673352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94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Minder niet‑medische consulten</a:t>
            </a:r>
            <a:b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Meer tijd voor medische zorg</a:t>
            </a:r>
            <a:b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Direct inzicht in status dankzij feedback</a:t>
            </a:r>
            <a:b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0" y="1280160"/>
            <a:ext cx="3657600" cy="1645920"/>
          </a:xfrm>
          <a:prstGeom prst="roundRect">
            <a:avLst>
              <a:gd fmla="val 4444" name="adj"/>
            </a:avLst>
          </a:prstGeom>
          <a:solidFill>
            <a:srgbClr val="00A67D">
              <a:alpha val="20000"/>
            </a:srgbClr>
          </a:solidFill>
          <a:ln cap="flat" cmpd="sng" w="12700">
            <a:solidFill>
              <a:srgbClr val="00A67D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663440" y="1417320"/>
            <a:ext cx="365760" cy="365760"/>
          </a:xfrm>
          <a:prstGeom prst="ellipse">
            <a:avLst/>
          </a:prstGeom>
          <a:solidFill>
            <a:srgbClr val="00A67D">
              <a:alpha val="40000"/>
            </a:srgbClr>
          </a:solidFill>
          <a:ln cap="flat" cmpd="sng" w="12700">
            <a:solidFill>
              <a:srgbClr val="00A6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" name="Google Shape;15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6680" y="1459791"/>
            <a:ext cx="274320" cy="27432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/>
          <p:nvPr/>
        </p:nvSpPr>
        <p:spPr>
          <a:xfrm>
            <a:off x="5120640" y="141732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Inwoners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120640" y="1673352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94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Snelle toegang tot passende ondersteuning</a:t>
            </a:r>
            <a:b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Warm welkom en duidelijke taal</a:t>
            </a:r>
            <a:b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Vind en voeg initiatieven toe</a:t>
            </a:r>
            <a:b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2926080"/>
            <a:ext cx="3657600" cy="1645920"/>
          </a:xfrm>
          <a:prstGeom prst="roundRect">
            <a:avLst>
              <a:gd fmla="val 4444" name="adj"/>
            </a:avLst>
          </a:prstGeom>
          <a:solidFill>
            <a:srgbClr val="00A6B1">
              <a:alpha val="20000"/>
            </a:srgbClr>
          </a:solidFill>
          <a:ln cap="flat" cmpd="sng" w="12700">
            <a:solidFill>
              <a:srgbClr val="00A6B1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00A6B1">
              <a:alpha val="40000"/>
            </a:srgbClr>
          </a:solidFill>
          <a:ln cap="flat" cmpd="sng" w="12700">
            <a:solidFill>
              <a:srgbClr val="00A6B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360" y="3098192"/>
            <a:ext cx="274320" cy="27432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1005840" y="306324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Sociaal domein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005840" y="3319272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94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Betere matching van vraag en aanbod</a:t>
            </a:r>
            <a:b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Warme overdracht vermindert uitval</a:t>
            </a:r>
            <a:b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Meer zicht op instroom en werkdruk</a:t>
            </a:r>
            <a:b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572000" y="2926080"/>
            <a:ext cx="3657600" cy="1645920"/>
          </a:xfrm>
          <a:prstGeom prst="roundRect">
            <a:avLst>
              <a:gd fmla="val 4444" name="adj"/>
            </a:avLst>
          </a:prstGeom>
          <a:solidFill>
            <a:srgbClr val="F2C94C">
              <a:alpha val="20000"/>
            </a:srgbClr>
          </a:solidFill>
          <a:ln cap="flat" cmpd="sng" w="12700">
            <a:solidFill>
              <a:srgbClr val="F2C94C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663440" y="3063240"/>
            <a:ext cx="365760" cy="365760"/>
          </a:xfrm>
          <a:prstGeom prst="ellipse">
            <a:avLst/>
          </a:prstGeom>
          <a:solidFill>
            <a:srgbClr val="F2C94C">
              <a:alpha val="40000"/>
            </a:srgbClr>
          </a:solidFill>
          <a:ln cap="flat" cmpd="sng" w="12700">
            <a:solidFill>
              <a:srgbClr val="F2C94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9160" y="3105711"/>
            <a:ext cx="274320" cy="27432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5120640" y="306324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Gemeenten &amp; verzekeraars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120640" y="3319272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94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Effectiever gebruik van sociale basis</a:t>
            </a:r>
            <a:b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Vroegsignalering en inzicht in wijkpatronen</a:t>
            </a:r>
            <a:b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50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Bijdrage aan beleidsdoelen (IZA, GALA)</a:t>
            </a:r>
            <a:br>
              <a:rPr lang="en-US" sz="95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E40">
              <a:alpha val="60000"/>
            </a:srgbClr>
          </a:solidFill>
          <a:ln cap="flat" cmpd="sng" w="12700">
            <a:solidFill>
              <a:srgbClr val="001E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&amp; begroting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65760" y="1097280"/>
            <a:ext cx="4297680" cy="3474720"/>
          </a:xfrm>
          <a:prstGeom prst="roundRect">
            <a:avLst>
              <a:gd fmla="val 2105" name="adj"/>
            </a:avLst>
          </a:prstGeom>
          <a:solidFill>
            <a:srgbClr val="2F5597">
              <a:alpha val="20000"/>
            </a:srgbClr>
          </a:solidFill>
          <a:ln cap="flat" cmpd="sng" w="12700">
            <a:solidFill>
              <a:srgbClr val="2F5597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02920" y="1188720"/>
            <a:ext cx="40233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b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Luuk Smeekens – Projectleider (LS Project- &amp; innovatiemanagement)</a:t>
            </a:r>
            <a:br>
              <a:rPr lang="en-US" sz="11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Ludger Visser – Technisch partner (LV IT Solutions)</a:t>
            </a:r>
            <a:br>
              <a:rPr lang="en-US" sz="11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Wijkpartners – De Schakel, Fy‑fit, Bindkracht10, Buurtteams, GGD, Gemeente Nijmegen e.a.</a:t>
            </a:r>
            <a:br>
              <a:rPr lang="en-US" sz="11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6F5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Dit multidisciplinaire team heeft ervaring in zorginnovatie, wijkgericht werken en privacy‑by‑design.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" name="Google Shape;174;p9"/>
          <p:cNvGraphicFramePr/>
          <p:nvPr/>
        </p:nvGraphicFramePr>
        <p:xfrm>
          <a:off x="4769905" y="21662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{BB263EC7-333C-4A62-A7CB-7B96D61A60EA}</a:tableStyleId>
              </a:tblPr>
              <a:tblGrid>
                <a:gridCol w="2743200"/>
                <a:gridCol w="100585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Project f</a:t>
                      </a: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ase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59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</a:rPr>
                        <a:t>Kosten (€)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597">
                        <a:alpha val="20000"/>
                      </a:srgbClr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E6F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DDE6F5"/>
                          </a:solidFill>
                        </a:rPr>
                        <a:t>Ontwerp &amp; MVP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E4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E6F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DDE6F5"/>
                          </a:solidFill>
                        </a:rPr>
                        <a:t>18.000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E40">
                        <a:alpha val="40000"/>
                      </a:srgbClr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E6F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DDE6F5"/>
                          </a:solidFill>
                        </a:rPr>
                        <a:t>Pilot</a:t>
                      </a:r>
                      <a:r>
                        <a:rPr lang="en-US" sz="900" u="none" cap="none" strike="noStrike">
                          <a:solidFill>
                            <a:srgbClr val="DDE6F5"/>
                          </a:solidFill>
                        </a:rPr>
                        <a:t>fase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E4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E6F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DDE6F5"/>
                          </a:solidFill>
                        </a:rPr>
                        <a:t>7.500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E40">
                        <a:alpha val="40000"/>
                      </a:srgbClr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E6F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DDE6F5"/>
                          </a:solidFill>
                        </a:rPr>
                        <a:t>Evaluatie &amp; rapportage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E4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E6F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DDE6F5"/>
                          </a:solidFill>
                        </a:rPr>
                        <a:t>3.500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E40">
                        <a:alpha val="40000"/>
                      </a:srgbClr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Totaal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59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29.000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1E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597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0" name="Google Shape;1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E40">
              <a:alpha val="60000"/>
            </a:srgbClr>
          </a:solidFill>
          <a:ln cap="flat" cmpd="sng" w="12700">
            <a:solidFill>
              <a:srgbClr val="001E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Conclusie &amp; oproep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40080" y="1188720"/>
            <a:ext cx="78638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WijkConnect biedt een praktische en innovatieve oplossing voor een cruciaal knelpunt in de samenwerking tussen eerstelijnszorg en sociaal domein.</a:t>
            </a:r>
            <a:b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Door een slimme pass‑through </a:t>
            </a:r>
            <a: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router-laag</a:t>
            </a:r>
            <a: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, automatische matching en terugkoppeling én een laagdrempelige </a:t>
            </a:r>
            <a: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burger interface</a:t>
            </a:r>
            <a: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 worden huisartsen ontlast, vinden inwoners sneller de juiste ondersteuning en wordt de sociale basis beter benut.</a:t>
            </a:r>
            <a:b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  <a:t>Met een stevig netwerk, een haalbare pilot en een duidelijk ontwikkelplan staat WijkConnect klaar om binnen drie maanden gebouwd en getest te worden.</a:t>
            </a:r>
            <a:b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>
                <a:solidFill>
                  <a:srgbClr val="DDE6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400">
                <a:solidFill>
                  <a:srgbClr val="00A67D"/>
                </a:solidFill>
                <a:latin typeface="Calibri"/>
                <a:ea typeface="Calibri"/>
                <a:cs typeface="Calibri"/>
                <a:sym typeface="Calibri"/>
              </a:rPr>
              <a:t>We nodigen u uit om dit initiatief te ondersteunen en samen de digitale brug te slaan tussen zorg en samenleving.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40080" y="4297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800"/>
              <a:buFont typeface="Calibri"/>
              <a:buNone/>
            </a:pPr>
            <a:r>
              <a:rPr lang="en-US" sz="800" u="sng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[4]</a:t>
            </a:r>
            <a:r>
              <a:rPr lang="en-U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00" u="sng">
                <a:solidFill>
                  <a:srgbClr val="2F5597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[5]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2025-12-08T13:32:17Z</dcterms:created>
  <dc:creator>PptxGenJS</dc:creator>
</cp:coreProperties>
</file>